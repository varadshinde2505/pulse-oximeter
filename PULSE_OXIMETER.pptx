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74" r:id="rId15"/>
    <p:sldId id="268" r:id="rId16"/>
    <p:sldId id="269" r:id="rId17"/>
    <p:sldId id="270" r:id="rId18"/>
    <p:sldId id="271" r:id="rId19"/>
    <p:sldId id="272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6"/>
    <p:restoredTop sz="94715"/>
  </p:normalViewPr>
  <p:slideViewPr>
    <p:cSldViewPr>
      <p:cViewPr>
        <p:scale>
          <a:sx n="104" d="100"/>
          <a:sy n="104" d="100"/>
        </p:scale>
        <p:origin x="1112" y="5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C00000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C00000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C00000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C00000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66928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1876" y="0"/>
            <a:ext cx="768096" cy="54406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61579" y="1488414"/>
            <a:ext cx="2586990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C00000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39526" y="2916059"/>
            <a:ext cx="7768590" cy="3563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50296" y="1696859"/>
            <a:ext cx="51682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K.</a:t>
            </a:r>
            <a:r>
              <a:rPr sz="2000" b="1" spc="-35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J.</a:t>
            </a:r>
            <a:r>
              <a:rPr sz="2000" b="1" spc="-30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Somaiya</a:t>
            </a:r>
            <a:r>
              <a:rPr sz="2000" b="1" spc="-30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Institute</a:t>
            </a:r>
            <a:r>
              <a:rPr sz="2000" b="1" spc="-25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2000" b="1" spc="-30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Technology,</a:t>
            </a:r>
            <a:r>
              <a:rPr sz="2000" b="1" spc="-30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Mumbai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0891" y="1999119"/>
            <a:ext cx="8346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Department</a:t>
            </a:r>
            <a:r>
              <a:rPr sz="2400" b="1" u="heavy" spc="-65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u="heavy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2400" b="1" u="heavy" spc="-65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u="heavy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Electronics</a:t>
            </a:r>
            <a:r>
              <a:rPr sz="2400" b="1" u="heavy" spc="-65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u="heavy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2400" b="1" u="heavy" spc="-65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u="heavy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Telecommunication</a:t>
            </a:r>
            <a:r>
              <a:rPr sz="2400" b="1" u="heavy" spc="-65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u="heavy" spc="-10" dirty="0">
                <a:solidFill>
                  <a:srgbClr val="052257"/>
                </a:solidFill>
                <a:uFill>
                  <a:solidFill>
                    <a:srgbClr val="052257"/>
                  </a:solidFill>
                </a:uFill>
                <a:latin typeface="Times New Roman" panose="02020503050405090304"/>
                <a:cs typeface="Times New Roman" panose="02020503050405090304"/>
              </a:rPr>
              <a:t>Engineering</a:t>
            </a:r>
            <a:endParaRPr sz="2400" dirty="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886200" y="2613685"/>
            <a:ext cx="7920990" cy="364426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975995" marR="3947795" algn="l">
              <a:lnSpc>
                <a:spcPct val="100000"/>
              </a:lnSpc>
              <a:spcBef>
                <a:spcPts val="105"/>
              </a:spcBef>
            </a:pPr>
            <a:r>
              <a:rPr dirty="0"/>
              <a:t>Academic</a:t>
            </a:r>
            <a:r>
              <a:rPr spc="-25" dirty="0"/>
              <a:t> </a:t>
            </a:r>
            <a:r>
              <a:rPr dirty="0"/>
              <a:t>Year</a:t>
            </a:r>
            <a:r>
              <a:rPr spc="-20" dirty="0"/>
              <a:t> </a:t>
            </a:r>
            <a:r>
              <a:rPr spc="-10" dirty="0"/>
              <a:t>2024-</a:t>
            </a:r>
            <a:r>
              <a:rPr spc="-20" dirty="0"/>
              <a:t>2025 ICC-</a:t>
            </a:r>
            <a:r>
              <a:rPr dirty="0"/>
              <a:t>Minor</a:t>
            </a:r>
            <a:r>
              <a:rPr spc="10" dirty="0"/>
              <a:t> </a:t>
            </a:r>
            <a:r>
              <a:rPr dirty="0"/>
              <a:t>-</a:t>
            </a:r>
            <a:r>
              <a:rPr spc="10" dirty="0"/>
              <a:t> </a:t>
            </a:r>
            <a:r>
              <a:rPr spc="-10" dirty="0"/>
              <a:t>Sem-</a:t>
            </a:r>
            <a:r>
              <a:rPr spc="-25" dirty="0"/>
              <a:t>IV</a:t>
            </a:r>
          </a:p>
          <a:p>
            <a:pPr marR="2971165" algn="l">
              <a:lnSpc>
                <a:spcPct val="100000"/>
              </a:lnSpc>
            </a:pPr>
            <a:r>
              <a:rPr lang="en-US" dirty="0"/>
              <a:t>                   </a:t>
            </a:r>
            <a:r>
              <a:rPr dirty="0"/>
              <a:t>Paper</a:t>
            </a:r>
            <a:r>
              <a:rPr spc="30" dirty="0"/>
              <a:t> </a:t>
            </a:r>
            <a:r>
              <a:rPr spc="-10" dirty="0"/>
              <a:t>Presentation-Examination</a:t>
            </a:r>
          </a:p>
          <a:p>
            <a:pPr marR="2973070" algn="l">
              <a:lnSpc>
                <a:spcPct val="100000"/>
              </a:lnSpc>
              <a:spcBef>
                <a:spcPts val="2110"/>
              </a:spcBef>
            </a:pPr>
            <a:r>
              <a:rPr sz="2800" dirty="0">
                <a:solidFill>
                  <a:srgbClr val="C00000"/>
                </a:solidFill>
              </a:rPr>
              <a:t>PULSE</a:t>
            </a:r>
            <a:r>
              <a:rPr sz="2800" spc="-40" dirty="0">
                <a:solidFill>
                  <a:srgbClr val="C00000"/>
                </a:solidFill>
              </a:rPr>
              <a:t> </a:t>
            </a:r>
            <a:r>
              <a:rPr sz="2800" dirty="0">
                <a:solidFill>
                  <a:srgbClr val="C00000"/>
                </a:solidFill>
              </a:rPr>
              <a:t>OXIMETER</a:t>
            </a:r>
            <a:r>
              <a:rPr sz="2800" spc="-45" dirty="0">
                <a:solidFill>
                  <a:srgbClr val="C00000"/>
                </a:solidFill>
              </a:rPr>
              <a:t> </a:t>
            </a:r>
            <a:r>
              <a:rPr sz="2800" spc="-10" dirty="0">
                <a:solidFill>
                  <a:srgbClr val="C00000"/>
                </a:solidFill>
              </a:rPr>
              <a:t>SYSTEM</a:t>
            </a:r>
            <a:endParaRPr lang="en-US" sz="1800" dirty="0">
              <a:solidFill>
                <a:srgbClr val="000000"/>
              </a:solidFill>
            </a:endParaRPr>
          </a:p>
          <a:p>
            <a:pPr marL="1498600" marR="4413250" algn="l">
              <a:lnSpc>
                <a:spcPct val="100000"/>
              </a:lnSpc>
              <a:spcBef>
                <a:spcPts val="2225"/>
              </a:spcBef>
            </a:pPr>
            <a:r>
              <a:rPr lang="en-US" sz="1800" dirty="0" err="1">
                <a:solidFill>
                  <a:srgbClr val="000000"/>
                </a:solidFill>
              </a:rPr>
              <a:t>Ayush</a:t>
            </a:r>
            <a:r>
              <a:rPr lang="en-US" sz="1800" dirty="0">
                <a:solidFill>
                  <a:srgbClr val="000000"/>
                </a:solidFill>
              </a:rPr>
              <a:t> Sharma </a:t>
            </a:r>
            <a:r>
              <a:rPr lang="en-US" sz="1800" dirty="0" err="1">
                <a:solidFill>
                  <a:srgbClr val="000000"/>
                </a:solidFill>
              </a:rPr>
              <a:t>Varad</a:t>
            </a:r>
            <a:r>
              <a:rPr lang="en-US" sz="1800" dirty="0">
                <a:solidFill>
                  <a:srgbClr val="000000"/>
                </a:solidFill>
              </a:rPr>
              <a:t> Shinde </a:t>
            </a:r>
            <a:r>
              <a:rPr lang="en-US" sz="1800" dirty="0" err="1">
                <a:solidFill>
                  <a:srgbClr val="000000"/>
                </a:solidFill>
              </a:rPr>
              <a:t>Prathamesh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 err="1">
                <a:solidFill>
                  <a:srgbClr val="000000"/>
                </a:solidFill>
              </a:rPr>
              <a:t>Takey</a:t>
            </a:r>
            <a:endParaRPr lang="en-US" sz="1800" dirty="0"/>
          </a:p>
          <a:p>
            <a:pPr algn="ctr">
              <a:lnSpc>
                <a:spcPct val="100000"/>
              </a:lnSpc>
            </a:pPr>
            <a:endParaRPr sz="1800" dirty="0"/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 dirty="0"/>
          </a:p>
          <a:p>
            <a:pPr marL="475170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</a:rPr>
              <a:t>Guide</a:t>
            </a:r>
            <a:r>
              <a:rPr sz="1800" spc="-25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FF0000"/>
                </a:solidFill>
              </a:rPr>
              <a:t>-</a:t>
            </a:r>
            <a:r>
              <a:rPr sz="1800" spc="-20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FF0000"/>
                </a:solidFill>
              </a:rPr>
              <a:t>Prof.</a:t>
            </a:r>
            <a:r>
              <a:rPr sz="1800" spc="-25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FF0000"/>
                </a:solidFill>
              </a:rPr>
              <a:t>Pradnya</a:t>
            </a:r>
            <a:r>
              <a:rPr sz="1800" spc="-20" dirty="0">
                <a:solidFill>
                  <a:srgbClr val="FF0000"/>
                </a:solidFill>
              </a:rPr>
              <a:t> </a:t>
            </a:r>
            <a:r>
              <a:rPr sz="1800" spc="-10" dirty="0">
                <a:solidFill>
                  <a:srgbClr val="FF0000"/>
                </a:solidFill>
              </a:rPr>
              <a:t>Kamble</a:t>
            </a:r>
            <a:endParaRPr sz="180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8008" y="128015"/>
            <a:ext cx="3051287" cy="983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5665" y="1094105"/>
            <a:ext cx="8653145" cy="497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254" dirty="0"/>
              <a:t>Outline</a:t>
            </a:r>
            <a:r>
              <a:rPr sz="3100" spc="-5" dirty="0"/>
              <a:t> </a:t>
            </a:r>
            <a:r>
              <a:rPr sz="3100" dirty="0"/>
              <a:t>of</a:t>
            </a:r>
            <a:r>
              <a:rPr sz="3100" spc="-220" dirty="0"/>
              <a:t> </a:t>
            </a:r>
            <a:r>
              <a:rPr sz="3100" spc="-265" dirty="0"/>
              <a:t>Major</a:t>
            </a:r>
            <a:r>
              <a:rPr sz="3100" spc="-95" dirty="0"/>
              <a:t> </a:t>
            </a:r>
            <a:r>
              <a:rPr sz="3100" dirty="0"/>
              <a:t>A</a:t>
            </a:r>
            <a:r>
              <a:rPr sz="3100" spc="-20" dirty="0"/>
              <a:t> </a:t>
            </a:r>
            <a:r>
              <a:rPr sz="3100" spc="-315" dirty="0"/>
              <a:t>End</a:t>
            </a:r>
            <a:r>
              <a:rPr sz="3100" spc="5" dirty="0"/>
              <a:t> </a:t>
            </a:r>
            <a:r>
              <a:rPr sz="3100" spc="-254" dirty="0"/>
              <a:t>Semester</a:t>
            </a:r>
            <a:r>
              <a:rPr sz="3100" spc="-95" dirty="0"/>
              <a:t> </a:t>
            </a:r>
            <a:r>
              <a:rPr sz="3100" spc="-310" dirty="0"/>
              <a:t>Examination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1925320" y="1613534"/>
            <a:ext cx="4648200" cy="48412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11150" indent="-285750">
              <a:lnSpc>
                <a:spcPct val="100000"/>
              </a:lnSpc>
              <a:spcBef>
                <a:spcPts val="11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Abstract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Introduction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Objective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dirty="0">
                <a:latin typeface="Times New Roman" panose="02020503050405090304"/>
                <a:cs typeface="Times New Roman" panose="02020503050405090304"/>
              </a:rPr>
              <a:t>Literature</a:t>
            </a:r>
            <a:r>
              <a:rPr sz="18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Survey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Social/Medical/Agricultural/Industry</a:t>
            </a:r>
            <a:r>
              <a:rPr sz="18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relevance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dirty="0">
                <a:latin typeface="Times New Roman" panose="02020503050405090304"/>
                <a:cs typeface="Times New Roman" panose="02020503050405090304"/>
              </a:rPr>
              <a:t>Software</a:t>
            </a:r>
            <a:r>
              <a:rPr sz="18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8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dirty="0">
                <a:latin typeface="Times New Roman" panose="02020503050405090304"/>
                <a:cs typeface="Times New Roman" panose="02020503050405090304"/>
              </a:rPr>
              <a:t>Hardware</a:t>
            </a:r>
            <a:r>
              <a:rPr sz="18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requirements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Methodology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dirty="0">
                <a:latin typeface="Times New Roman" panose="02020503050405090304"/>
                <a:cs typeface="Times New Roman" panose="02020503050405090304"/>
              </a:rPr>
              <a:t>Results</a:t>
            </a:r>
            <a:r>
              <a:rPr sz="18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8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Discussion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Conclusion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dirty="0">
                <a:latin typeface="Times New Roman" panose="02020503050405090304"/>
                <a:cs typeface="Times New Roman" panose="02020503050405090304"/>
              </a:rPr>
              <a:t>Future</a:t>
            </a:r>
            <a:r>
              <a:rPr sz="18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Scope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3111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11150" algn="l"/>
              </a:tabLst>
            </a:pP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Applications</a:t>
            </a: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298450" indent="-28575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298450" algn="l"/>
              </a:tabLst>
            </a:pPr>
            <a:r>
              <a:rPr sz="18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800" spc="-3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800" spc="-2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idea</a:t>
            </a:r>
            <a:endParaRPr sz="18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6063996" cy="9753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37435" y="1645551"/>
            <a:ext cx="8080375" cy="423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368300" algn="l"/>
              </a:tabLst>
            </a:pPr>
            <a:r>
              <a:rPr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Abstract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 marL="298450" marR="154305" indent="-285750">
              <a:lnSpc>
                <a:spcPct val="100000"/>
              </a:lnSpc>
              <a:spcBef>
                <a:spcPts val="193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Trebuchet MS" panose="020B0703020202090204"/>
                <a:cs typeface="Trebuchet MS" panose="020B0703020202090204"/>
              </a:rPr>
              <a:t>This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55" dirty="0">
                <a:latin typeface="Trebuchet MS" panose="020B0703020202090204"/>
                <a:cs typeface="Trebuchet MS" panose="020B0703020202090204"/>
              </a:rPr>
              <a:t>project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presents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 low-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cost,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45" dirty="0">
                <a:latin typeface="Trebuchet MS" panose="020B0703020202090204"/>
                <a:cs typeface="Trebuchet MS" panose="020B0703020202090204"/>
              </a:rPr>
              <a:t>portable,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IoT-enabled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oximeter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8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800" spc="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800" spc="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800" spc="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microcontroller.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98450" marR="22479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8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8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measures</a:t>
            </a:r>
            <a:r>
              <a:rPr sz="18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blood</a:t>
            </a:r>
            <a:r>
              <a:rPr sz="18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oxygen</a:t>
            </a:r>
            <a:r>
              <a:rPr sz="18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25" dirty="0">
                <a:latin typeface="Trebuchet MS" panose="020B0703020202090204"/>
                <a:cs typeface="Trebuchet MS" panose="020B0703020202090204"/>
              </a:rPr>
              <a:t>saturation</a:t>
            </a:r>
            <a:r>
              <a:rPr sz="18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(SpO₂)</a:t>
            </a:r>
            <a:r>
              <a:rPr sz="18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8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8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70" dirty="0">
                <a:latin typeface="Trebuchet MS" panose="020B0703020202090204"/>
                <a:cs typeface="Trebuchet MS" panose="020B0703020202090204"/>
              </a:rPr>
              <a:t>rate</a:t>
            </a:r>
            <a:r>
              <a:rPr sz="18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20" dirty="0">
                <a:latin typeface="Trebuchet MS" panose="020B0703020202090204"/>
                <a:cs typeface="Trebuchet MS" panose="020B0703020202090204"/>
              </a:rPr>
              <a:t>non- invasively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via</a:t>
            </a:r>
            <a:r>
              <a:rPr sz="18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photoplethysmography</a:t>
            </a:r>
            <a:r>
              <a:rPr sz="18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(PPG)</a:t>
            </a:r>
            <a:r>
              <a:rPr sz="18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8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8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80" dirty="0">
                <a:latin typeface="Trebuchet MS" panose="020B0703020202090204"/>
                <a:cs typeface="Trebuchet MS" panose="020B0703020202090204"/>
              </a:rPr>
              <a:t>MAX30103</a:t>
            </a:r>
            <a:r>
              <a:rPr sz="18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sensor.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800" spc="-9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device</a:t>
            </a:r>
            <a:r>
              <a:rPr sz="1800" spc="-9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features: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•"/>
              <a:tabLst>
                <a:tab pos="755015" algn="l"/>
              </a:tabLst>
            </a:pPr>
            <a:r>
              <a:rPr sz="180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800" spc="-65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20" dirty="0">
                <a:latin typeface="Trebuchet MS" panose="020B0703020202090204"/>
                <a:cs typeface="Trebuchet MS" panose="020B0703020202090204"/>
              </a:rPr>
              <a:t>monitoring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via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an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130" dirty="0">
                <a:latin typeface="Trebuchet MS" panose="020B0703020202090204"/>
                <a:cs typeface="Trebuchet MS" panose="020B0703020202090204"/>
              </a:rPr>
              <a:t>OLED</a:t>
            </a:r>
            <a:r>
              <a:rPr sz="18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display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755650" marR="5080" lvl="1" indent="-285750">
              <a:lnSpc>
                <a:spcPct val="100000"/>
              </a:lnSpc>
              <a:buFont typeface="Arial MT"/>
              <a:buChar char="•"/>
              <a:tabLst>
                <a:tab pos="755650" algn="l"/>
              </a:tabLst>
            </a:pPr>
            <a:r>
              <a:rPr sz="1800" dirty="0">
                <a:latin typeface="Trebuchet MS" panose="020B0703020202090204"/>
                <a:cs typeface="Trebuchet MS" panose="020B0703020202090204"/>
              </a:rPr>
              <a:t>Wi-Fi</a:t>
            </a:r>
            <a:r>
              <a:rPr sz="1800" spc="-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30" dirty="0">
                <a:latin typeface="Trebuchet MS" panose="020B0703020202090204"/>
                <a:cs typeface="Trebuchet MS" panose="020B0703020202090204"/>
              </a:rPr>
              <a:t>connectivity</a:t>
            </a:r>
            <a:r>
              <a:rPr sz="1800" spc="-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(Arduino)</a:t>
            </a:r>
            <a:r>
              <a:rPr sz="1800" spc="-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800" spc="-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30" dirty="0">
                <a:latin typeface="Trebuchet MS" panose="020B0703020202090204"/>
                <a:cs typeface="Trebuchet MS" panose="020B0703020202090204"/>
              </a:rPr>
              <a:t>remote</a:t>
            </a:r>
            <a:r>
              <a:rPr sz="1800" spc="-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800" spc="-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transmission</a:t>
            </a:r>
            <a:r>
              <a:rPr sz="1800" spc="-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800" spc="-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800" spc="-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healthcare website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•"/>
              <a:tabLst>
                <a:tab pos="755015" algn="l"/>
              </a:tabLst>
            </a:pPr>
            <a:r>
              <a:rPr sz="1800" dirty="0">
                <a:latin typeface="Trebuchet MS" panose="020B0703020202090204"/>
                <a:cs typeface="Trebuchet MS" panose="020B0703020202090204"/>
              </a:rPr>
              <a:t>Noise</a:t>
            </a:r>
            <a:r>
              <a:rPr sz="18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80" dirty="0">
                <a:latin typeface="Trebuchet MS" panose="020B0703020202090204"/>
                <a:cs typeface="Trebuchet MS" panose="020B0703020202090204"/>
              </a:rPr>
              <a:t>filtering</a:t>
            </a:r>
            <a:r>
              <a:rPr sz="18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8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accurate</a:t>
            </a:r>
            <a:r>
              <a:rPr sz="18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signal</a:t>
            </a:r>
            <a:r>
              <a:rPr sz="18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processing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•"/>
              <a:tabLst>
                <a:tab pos="755015" algn="l"/>
              </a:tabLst>
            </a:pPr>
            <a:r>
              <a:rPr sz="1800" spc="80" dirty="0">
                <a:latin typeface="Trebuchet MS" panose="020B0703020202090204"/>
                <a:cs typeface="Trebuchet MS" panose="020B0703020202090204"/>
              </a:rPr>
              <a:t>Easy</a:t>
            </a:r>
            <a:r>
              <a:rPr sz="18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prototyping</a:t>
            </a:r>
            <a:r>
              <a:rPr sz="18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55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8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8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breadboard</a:t>
            </a:r>
            <a:r>
              <a:rPr sz="18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8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30" dirty="0">
                <a:latin typeface="Trebuchet MS" panose="020B0703020202090204"/>
                <a:cs typeface="Trebuchet MS" panose="020B0703020202090204"/>
              </a:rPr>
              <a:t>additional</a:t>
            </a:r>
            <a:r>
              <a:rPr sz="18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components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755650" marR="127000" lvl="1" indent="-285750">
              <a:lnSpc>
                <a:spcPct val="100000"/>
              </a:lnSpc>
              <a:buFont typeface="Arial MT"/>
              <a:buChar char="•"/>
              <a:tabLst>
                <a:tab pos="755650" algn="l"/>
              </a:tabLst>
            </a:pPr>
            <a:r>
              <a:rPr sz="18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achieves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65" dirty="0">
                <a:latin typeface="Trebuchet MS" panose="020B0703020202090204"/>
                <a:cs typeface="Trebuchet MS" panose="020B0703020202090204"/>
              </a:rPr>
              <a:t>reliable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30" dirty="0">
                <a:latin typeface="Trebuchet MS" panose="020B0703020202090204"/>
                <a:cs typeface="Trebuchet MS" panose="020B0703020202090204"/>
              </a:rPr>
              <a:t>performance,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making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40" dirty="0">
                <a:latin typeface="Trebuchet MS" panose="020B0703020202090204"/>
                <a:cs typeface="Trebuchet MS" panose="020B0703020202090204"/>
              </a:rPr>
              <a:t>it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20" dirty="0">
                <a:latin typeface="Trebuchet MS" panose="020B0703020202090204"/>
                <a:cs typeface="Trebuchet MS" panose="020B0703020202090204"/>
              </a:rPr>
              <a:t>suitable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8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20" dirty="0">
                <a:latin typeface="Trebuchet MS" panose="020B0703020202090204"/>
                <a:cs typeface="Trebuchet MS" panose="020B0703020202090204"/>
              </a:rPr>
              <a:t>home 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healthcare,</a:t>
            </a:r>
            <a:r>
              <a:rPr sz="18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fitness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35" dirty="0">
                <a:latin typeface="Trebuchet MS" panose="020B0703020202090204"/>
                <a:cs typeface="Trebuchet MS" panose="020B0703020202090204"/>
              </a:rPr>
              <a:t>tracking,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8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40" dirty="0">
                <a:latin typeface="Trebuchet MS" panose="020B0703020202090204"/>
                <a:cs typeface="Trebuchet MS" panose="020B0703020202090204"/>
              </a:rPr>
              <a:t>telemedicine</a:t>
            </a:r>
            <a:r>
              <a:rPr sz="18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applications.</a:t>
            </a:r>
            <a:endParaRPr sz="1800">
              <a:latin typeface="Trebuchet MS" panose="020B0703020202090204"/>
              <a:cs typeface="Trebuchet MS" panose="020B070302020209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79831"/>
            <a:ext cx="3267231" cy="10527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37435" y="1645284"/>
            <a:ext cx="8588375" cy="4770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81965" algn="l"/>
              </a:tabLst>
            </a:pPr>
            <a:r>
              <a:rPr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Introduction</a:t>
            </a:r>
            <a:endParaRPr sz="2400" dirty="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100000"/>
              </a:lnSpc>
              <a:spcBef>
                <a:spcPts val="1455"/>
              </a:spcBef>
            </a:pPr>
            <a:r>
              <a:rPr sz="1600" spc="75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oximeter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is</a:t>
            </a:r>
            <a:r>
              <a:rPr sz="1600" spc="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non-invasive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device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that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measures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blood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oxygen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saturation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(SpO₂)</a:t>
            </a:r>
            <a:r>
              <a:rPr sz="1600" spc="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and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1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rate</a:t>
            </a:r>
            <a:r>
              <a:rPr sz="1600" spc="1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6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600" spc="1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photoplethysmography</a:t>
            </a:r>
            <a:r>
              <a:rPr sz="1600" spc="1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(PPG).</a:t>
            </a:r>
            <a:r>
              <a:rPr sz="1600" spc="1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This</a:t>
            </a:r>
            <a:r>
              <a:rPr sz="1600" spc="1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project</a:t>
            </a:r>
            <a:r>
              <a:rPr sz="1600" spc="1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develops</a:t>
            </a:r>
            <a:r>
              <a:rPr sz="1600" spc="1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1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low-cost,</a:t>
            </a:r>
            <a:r>
              <a:rPr sz="1600" spc="1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portable,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IoT-enabled</a:t>
            </a:r>
            <a:r>
              <a:rPr sz="1600" spc="9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9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oximeter</a:t>
            </a:r>
            <a:r>
              <a:rPr sz="1600" spc="9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600" spc="9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9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600" spc="9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microcontroller.</a:t>
            </a:r>
            <a:r>
              <a:rPr sz="1600" spc="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The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approach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aims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simplify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monitoring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by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providing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accurate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on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vital 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signs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both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home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clinical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environments.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8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leverages</a:t>
            </a:r>
            <a:r>
              <a:rPr sz="1600" spc="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100" dirty="0">
                <a:latin typeface="Trebuchet MS" panose="020B0703020202090204"/>
                <a:cs typeface="Trebuchet MS" panose="020B0703020202090204"/>
              </a:rPr>
              <a:t>MAX30103</a:t>
            </a:r>
            <a:r>
              <a:rPr sz="1600" spc="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sensor</a:t>
            </a:r>
            <a:r>
              <a:rPr sz="1600" spc="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8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capture</a:t>
            </a:r>
            <a:r>
              <a:rPr sz="1600" spc="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precise</a:t>
            </a:r>
            <a:r>
              <a:rPr sz="1600" spc="9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readings</a:t>
            </a:r>
            <a:r>
              <a:rPr sz="1600" spc="9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of</a:t>
            </a:r>
            <a:r>
              <a:rPr sz="1600" spc="1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95" dirty="0">
                <a:latin typeface="Trebuchet MS" panose="020B0703020202090204"/>
                <a:cs typeface="Trebuchet MS" panose="020B0703020202090204"/>
              </a:rPr>
              <a:t>SpO₂</a:t>
            </a:r>
            <a:r>
              <a:rPr sz="1600" spc="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1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heart </a:t>
            </a:r>
            <a:r>
              <a:rPr sz="1600" spc="-85" dirty="0">
                <a:latin typeface="Trebuchet MS" panose="020B0703020202090204"/>
                <a:cs typeface="Trebuchet MS" panose="020B0703020202090204"/>
              </a:rPr>
              <a:t>rate,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displaying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information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on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105" dirty="0">
                <a:latin typeface="Trebuchet MS" panose="020B0703020202090204"/>
                <a:cs typeface="Trebuchet MS" panose="020B0703020202090204"/>
              </a:rPr>
              <a:t>OLED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screen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immediate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feedback.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600" spc="145" dirty="0">
                <a:latin typeface="Trebuchet MS" panose="020B0703020202090204"/>
                <a:cs typeface="Trebuchet MS" panose="020B0703020202090204"/>
              </a:rPr>
              <a:t>'s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built-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Wi-Fi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enables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device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transmit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these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readings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wirelessly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dedicated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healthcare</a:t>
            </a:r>
            <a:r>
              <a:rPr sz="1600" spc="2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website,</a:t>
            </a:r>
            <a:r>
              <a:rPr sz="1600" spc="2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0" dirty="0">
                <a:latin typeface="Trebuchet MS" panose="020B0703020202090204"/>
                <a:cs typeface="Trebuchet MS" panose="020B0703020202090204"/>
              </a:rPr>
              <a:t>ensuring</a:t>
            </a:r>
            <a:r>
              <a:rPr sz="1600" spc="2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100" dirty="0">
                <a:latin typeface="Trebuchet MS" panose="020B0703020202090204"/>
                <a:cs typeface="Trebuchet MS" panose="020B0703020202090204"/>
              </a:rPr>
              <a:t>seamless</a:t>
            </a:r>
            <a:r>
              <a:rPr sz="1600" spc="2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remote</a:t>
            </a:r>
            <a:r>
              <a:rPr sz="1600" spc="2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0" dirty="0">
                <a:latin typeface="Trebuchet MS" panose="020B0703020202090204"/>
                <a:cs typeface="Trebuchet MS" panose="020B0703020202090204"/>
              </a:rPr>
              <a:t>monitoring</a:t>
            </a:r>
            <a:r>
              <a:rPr sz="1600" spc="2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254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2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0" dirty="0">
                <a:latin typeface="Trebuchet MS" panose="020B0703020202090204"/>
                <a:cs typeface="Trebuchet MS" panose="020B0703020202090204"/>
              </a:rPr>
              <a:t>accessibility.</a:t>
            </a:r>
            <a:r>
              <a:rPr sz="1600" spc="2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This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integration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of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sensor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technology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wireless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communication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creates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effective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solution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for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modern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healthcare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challenges.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600" spc="120" dirty="0">
                <a:latin typeface="Trebuchet MS" panose="020B0703020202090204"/>
                <a:cs typeface="Trebuchet MS" panose="020B0703020202090204"/>
              </a:rPr>
              <a:t>By</a:t>
            </a:r>
            <a:r>
              <a:rPr sz="1600" spc="1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combining</a:t>
            </a:r>
            <a:r>
              <a:rPr sz="1600" spc="1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affordability,</a:t>
            </a:r>
            <a:r>
              <a:rPr sz="1600" spc="1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portability,</a:t>
            </a:r>
            <a:r>
              <a:rPr sz="1600" spc="1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1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robust</a:t>
            </a:r>
            <a:r>
              <a:rPr sz="1600" spc="1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1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transmission,</a:t>
            </a:r>
            <a:r>
              <a:rPr sz="1600" spc="1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this</a:t>
            </a:r>
            <a:r>
              <a:rPr sz="1600" spc="1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1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oximeter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is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well-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suited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telemedicine,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fitness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tracking,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continuous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monitoring.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The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design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facilitates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surveillance,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allowing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prompt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intervention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and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improved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patient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care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while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reducing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dependency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on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traditional,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more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expensive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medical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devices.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804" y="169163"/>
            <a:ext cx="3390319" cy="10930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5348" y="1336649"/>
            <a:ext cx="5289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69265" algn="l"/>
              </a:tabLst>
            </a:pPr>
            <a:r>
              <a:rPr lang="en-US" sz="24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Problem </a:t>
            </a:r>
            <a:r>
              <a:rPr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statement</a:t>
            </a:r>
            <a:r>
              <a:rPr lang="en-US"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:</a:t>
            </a:r>
            <a:endParaRPr sz="2400" dirty="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95348" y="2362200"/>
            <a:ext cx="9305925" cy="195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1455" algn="l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pulse oximeters are often expensive, bulky, and lack connectivity features, limiting their accessibility for continuous or remote health monitoring. In an era where real-time health tracking and telemedicine are becoming essential, there is a growing need for a low-cost, portable, and IoT-enabled solution that can accurately monitor vital signs such as oxygen saturation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₂) and heart rate. This project addresses this need by developing a compact, affordable, and wireless pulse oximeter system based on Arduino, aimed at improving personal and clinical health monitoring capabilities.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0554" y="1676323"/>
            <a:ext cx="9025890" cy="4046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72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81965" algn="l"/>
              </a:tabLst>
            </a:pPr>
            <a:r>
              <a:rPr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Objective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 marL="12700" marR="5080">
              <a:lnSpc>
                <a:spcPct val="100000"/>
              </a:lnSpc>
              <a:spcBef>
                <a:spcPts val="1615"/>
              </a:spcBef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primary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objective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of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Pulse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Oximeter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 using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Arduino Uno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is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create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an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affordable,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portable,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user-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friendly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solution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continuously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monitoring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blood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oxygen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saturation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(SpO₂)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85" dirty="0">
                <a:latin typeface="Trebuchet MS" panose="020B0703020202090204"/>
                <a:cs typeface="Trebuchet MS" panose="020B0703020202090204"/>
              </a:rPr>
              <a:t>rate.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95" dirty="0">
                <a:latin typeface="Trebuchet MS" panose="020B0703020202090204"/>
                <a:cs typeface="Trebuchet MS" panose="020B0703020202090204"/>
              </a:rPr>
              <a:t>By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leveraging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microcontroller-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based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technology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Wi-Fi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connectivity,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the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provides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acquisition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remote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monitoring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capabilities.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project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is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designed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to: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 marR="246380" indent="-285750">
              <a:lnSpc>
                <a:spcPts val="1910"/>
              </a:lnSpc>
              <a:spcBef>
                <a:spcPts val="90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b="1" spc="-45" dirty="0">
                <a:latin typeface="Tahoma" panose="020B0604030504040204"/>
                <a:cs typeface="Tahoma" panose="020B0604030504040204"/>
              </a:rPr>
              <a:t>Provide</a:t>
            </a:r>
            <a:r>
              <a:rPr sz="16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Real-</a:t>
            </a:r>
            <a:r>
              <a:rPr sz="1600" b="1" spc="-45" dirty="0">
                <a:latin typeface="Tahoma" panose="020B0604030504040204"/>
                <a:cs typeface="Tahoma" panose="020B0604030504040204"/>
              </a:rPr>
              <a:t>Time</a:t>
            </a:r>
            <a:r>
              <a:rPr sz="16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65" dirty="0">
                <a:latin typeface="Tahoma" panose="020B0604030504040204"/>
                <a:cs typeface="Tahoma" panose="020B0604030504040204"/>
              </a:rPr>
              <a:t>Monitoring</a:t>
            </a:r>
            <a:r>
              <a:rPr sz="1600" spc="-65" dirty="0">
                <a:latin typeface="Trebuchet MS" panose="020B0703020202090204"/>
                <a:cs typeface="Trebuchet MS" panose="020B0703020202090204"/>
              </a:rPr>
              <a:t>: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Display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SpO₂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 pulse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rate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readings on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 </a:t>
            </a:r>
            <a:r>
              <a:rPr sz="1600" spc="105" dirty="0">
                <a:latin typeface="Trebuchet MS" panose="020B0703020202090204"/>
                <a:cs typeface="Trebuchet MS" panose="020B0703020202090204"/>
              </a:rPr>
              <a:t>OLED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screen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or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transmit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connected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device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immediate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analysis.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 marR="252095" indent="-285750">
              <a:lnSpc>
                <a:spcPts val="191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b="1" spc="-30" dirty="0">
                <a:latin typeface="Tahoma" panose="020B0604030504040204"/>
                <a:cs typeface="Tahoma" panose="020B0604030504040204"/>
              </a:rPr>
              <a:t>Enable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Wireless</a:t>
            </a:r>
            <a:r>
              <a:rPr sz="1600" b="1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55" dirty="0">
                <a:latin typeface="Tahoma" panose="020B0604030504040204"/>
                <a:cs typeface="Tahoma" panose="020B0604030504040204"/>
              </a:rPr>
              <a:t>Data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Transmission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: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Utilize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600" spc="145" dirty="0">
                <a:latin typeface="Trebuchet MS" panose="020B0703020202090204"/>
                <a:cs typeface="Trebuchet MS" panose="020B0703020202090204"/>
              </a:rPr>
              <a:t>'s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built-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Wi-Fi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send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over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75" dirty="0">
                <a:latin typeface="Trebuchet MS" panose="020B0703020202090204"/>
                <a:cs typeface="Trebuchet MS" panose="020B0703020202090204"/>
              </a:rPr>
              <a:t>internet,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facilitating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remote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monitoring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through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cloud-based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platforms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or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>
              <a:lnSpc>
                <a:spcPts val="1855"/>
              </a:lnSpc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dedicated</a:t>
            </a:r>
            <a:r>
              <a:rPr sz="1600" spc="-1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applications.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 marR="8001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b="1" spc="-45" dirty="0">
                <a:latin typeface="Tahoma" panose="020B0604030504040204"/>
                <a:cs typeface="Tahoma" panose="020B0604030504040204"/>
              </a:rPr>
              <a:t>Support</a:t>
            </a:r>
            <a:r>
              <a:rPr sz="16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Remote</a:t>
            </a:r>
            <a:r>
              <a:rPr sz="16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60" dirty="0">
                <a:latin typeface="Tahoma" panose="020B0604030504040204"/>
                <a:cs typeface="Tahoma" panose="020B0604030504040204"/>
              </a:rPr>
              <a:t>Healthcare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: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Allow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healthcare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professionals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or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caregivers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monitor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patient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vitals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remotely,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which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is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particularly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beneficial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individuals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with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chronic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conditions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or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those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in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post-surgical</a:t>
            </a:r>
            <a:r>
              <a:rPr sz="1600" spc="1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recovery.</a:t>
            </a:r>
            <a:endParaRPr sz="1600">
              <a:latin typeface="Trebuchet MS" panose="020B0703020202090204"/>
              <a:cs typeface="Trebuchet MS" panose="020B070302020209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46304"/>
            <a:ext cx="3514127" cy="1132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0554" y="1553235"/>
            <a:ext cx="9042400" cy="49680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81965" algn="l"/>
              </a:tabLst>
            </a:pPr>
            <a:r>
              <a:rPr sz="24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Literature</a:t>
            </a:r>
            <a:r>
              <a:rPr sz="2400" spc="-55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Survey</a:t>
            </a:r>
            <a:r>
              <a:rPr lang="en-US"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:</a:t>
            </a: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lang="en-US" sz="2400" spc="-10" dirty="0">
              <a:solidFill>
                <a:srgbClr val="052257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tabLst>
                <a:tab pos="481965" algn="l"/>
              </a:tabLst>
            </a:pPr>
            <a:endParaRPr sz="2400" dirty="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4038151" cy="130218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C42299-4364-AF44-93FA-BDBEBCC61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237275"/>
              </p:ext>
            </p:extLst>
          </p:nvPr>
        </p:nvGraphicFramePr>
        <p:xfrm>
          <a:off x="2057400" y="2209800"/>
          <a:ext cx="9601200" cy="4201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302030391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32614453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99674746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8227257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33900694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9252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Pulse Oximetry using Arduino (2020)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Uno, MAX30100, OLED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pulse and </a:t>
                      </a:r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₂ display using OLED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wireless data transmission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33503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Health Monitoring (2021)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Arduino, Wi-Fi Module, MAX30102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monitoring enabled via IoT platforms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power consumption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69748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Wearable Oximeter (2022, IEEE)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ESP32, MAX30103, Bluetooth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Portable wearable device with real-time heart and </a:t>
                      </a:r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₂ data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display capability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4173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Patient Monitoring (2021)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Pi, MAX30100, Web Dashboard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monitoring with cloud data storage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 and less portable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07008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Home-based Oximeter System (2019)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Nano, MAX30100, LCD Display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Affordable </a:t>
                      </a:r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₂ and heart rate measurement at home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data logging or remote monitoring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499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2270" y="1553235"/>
            <a:ext cx="9922510" cy="4060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367665" algn="l"/>
              </a:tabLst>
            </a:pPr>
            <a:r>
              <a:rPr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Social/Medical/Agricultural/Industry</a:t>
            </a:r>
            <a:r>
              <a:rPr sz="2400" spc="17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relevance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915"/>
              </a:lnSpc>
              <a:spcBef>
                <a:spcPts val="2030"/>
              </a:spcBef>
            </a:pPr>
            <a:r>
              <a:rPr sz="1600" b="1" spc="-25" dirty="0">
                <a:latin typeface="Tahoma" panose="020B0604030504040204"/>
                <a:cs typeface="Tahoma" panose="020B0604030504040204"/>
              </a:rPr>
              <a:t>Medical</a:t>
            </a:r>
            <a:r>
              <a:rPr sz="1600" b="1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Relevance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 marR="5080">
              <a:lnSpc>
                <a:spcPts val="1920"/>
              </a:lnSpc>
              <a:spcBef>
                <a:spcPts val="55"/>
              </a:spcBef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This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project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is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highly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significant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medical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85" dirty="0">
                <a:latin typeface="Trebuchet MS" panose="020B0703020202090204"/>
                <a:cs typeface="Trebuchet MS" panose="020B0703020202090204"/>
              </a:rPr>
              <a:t>field,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as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30" dirty="0">
                <a:latin typeface="Trebuchet MS" panose="020B0703020202090204"/>
                <a:cs typeface="Trebuchet MS" panose="020B0703020202090204"/>
              </a:rPr>
              <a:t>it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provides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reliable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continuous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method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for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monitoring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blood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oxygen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saturation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rate—</a:t>
            </a:r>
            <a:r>
              <a:rPr sz="1600" spc="-70" dirty="0">
                <a:latin typeface="Trebuchet MS" panose="020B0703020202090204"/>
                <a:cs typeface="Trebuchet MS" panose="020B0703020202090204"/>
              </a:rPr>
              <a:t>vital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indicators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managing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respiratory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and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cardiovascular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conditions.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its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transmission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capabilities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via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Wi-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Fi,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healthcare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professionals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can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remotely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monitor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patient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vitals,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enabling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early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detection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of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potential </a:t>
            </a:r>
            <a:r>
              <a:rPr sz="1600" spc="50" dirty="0">
                <a:latin typeface="Trebuchet MS" panose="020B0703020202090204"/>
                <a:cs typeface="Trebuchet MS" panose="020B0703020202090204"/>
              </a:rPr>
              <a:t>issues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5" dirty="0">
                <a:latin typeface="Trebuchet MS" panose="020B0703020202090204"/>
                <a:cs typeface="Trebuchet MS" panose="020B0703020202090204"/>
              </a:rPr>
              <a:t>timely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intervention.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The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 is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particularly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beneficial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managing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chronic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conditions,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supporting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telemedicine,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reducing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the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need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for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frequent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hospital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visits,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thereby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enhancing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patient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care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overall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healthcare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efficiency.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ts val="1915"/>
              </a:lnSpc>
              <a:spcBef>
                <a:spcPts val="5"/>
              </a:spcBef>
            </a:pPr>
            <a:r>
              <a:rPr sz="1600" b="1" spc="-105" dirty="0">
                <a:latin typeface="Tahoma" panose="020B0604030504040204"/>
                <a:cs typeface="Tahoma" panose="020B0604030504040204"/>
              </a:rPr>
              <a:t>Industry</a:t>
            </a:r>
            <a:r>
              <a:rPr sz="1600" b="1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Relevance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 marR="29845">
              <a:lnSpc>
                <a:spcPts val="1920"/>
              </a:lnSpc>
              <a:spcBef>
                <a:spcPts val="55"/>
              </a:spcBef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IoT-enabled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design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of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this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oximeter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also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holds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potential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industrial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settings,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especially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for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workplace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safety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monitoring.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95" dirty="0">
                <a:latin typeface="Trebuchet MS" panose="020B0703020202090204"/>
                <a:cs typeface="Trebuchet MS" panose="020B0703020202090204"/>
              </a:rPr>
              <a:t>By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integrating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wearable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0" dirty="0">
                <a:latin typeface="Trebuchet MS" panose="020B0703020202090204"/>
                <a:cs typeface="Trebuchet MS" panose="020B0703020202090204"/>
              </a:rPr>
              <a:t>sensors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analytics, industries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can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ensure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that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employees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working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high-risk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environments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are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continuously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monitored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for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any 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signs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of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physiological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stress,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thereby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preventing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workplace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accidents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promoting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safer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work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environment.</a:t>
            </a:r>
            <a:endParaRPr sz="1600">
              <a:latin typeface="Trebuchet MS" panose="020B0703020202090204"/>
              <a:cs typeface="Trebuchet MS" panose="020B070302020209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3082239" cy="9935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7372" y="1553235"/>
            <a:ext cx="5044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Software</a:t>
            </a:r>
            <a:r>
              <a:rPr sz="2400" spc="-5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2400" spc="-4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Hardware</a:t>
            </a:r>
            <a:r>
              <a:rPr sz="2400" spc="-45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requirements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24660" y="2201544"/>
            <a:ext cx="9969500" cy="4203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5"/>
              </a:lnSpc>
              <a:spcBef>
                <a:spcPts val="95"/>
              </a:spcBef>
            </a:pPr>
            <a:r>
              <a:rPr sz="1600" b="1" spc="-70" dirty="0">
                <a:latin typeface="Tahoma" panose="020B0604030504040204"/>
                <a:cs typeface="Tahoma" panose="020B0604030504040204"/>
              </a:rPr>
              <a:t>Hardware</a:t>
            </a:r>
            <a:r>
              <a:rPr sz="16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Requirements:</a:t>
            </a:r>
            <a:endParaRPr sz="1600">
              <a:latin typeface="Tahoma" panose="020B0604030504040204"/>
              <a:cs typeface="Tahoma" panose="020B0604030504040204"/>
            </a:endParaRPr>
          </a:p>
          <a:p>
            <a:pPr marL="297815" indent="-285115">
              <a:lnSpc>
                <a:spcPts val="1915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Arduino Uno: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Serves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as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main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microcontroller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built-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Wi-Fi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transmission.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 marR="508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600" spc="75" dirty="0">
                <a:latin typeface="Trebuchet MS" panose="020B0703020202090204"/>
                <a:cs typeface="Trebuchet MS" panose="020B0703020202090204"/>
              </a:rPr>
              <a:t>MAX30103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Sensor: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0" dirty="0">
                <a:latin typeface="Trebuchet MS" panose="020B0703020202090204"/>
                <a:cs typeface="Trebuchet MS" panose="020B0703020202090204"/>
              </a:rPr>
              <a:t>Measures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blood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oxygen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saturation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(SpO₂)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rate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photoplethysmography (PPG).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105" dirty="0">
                <a:latin typeface="Trebuchet MS" panose="020B0703020202090204"/>
                <a:cs typeface="Trebuchet MS" panose="020B0703020202090204"/>
              </a:rPr>
              <a:t>OLED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Display: Provides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visualization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of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sensor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readings.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Breadboard and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Jumper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Wires: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prototyping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 establishing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connections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between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components.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 marR="25400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600" spc="-20" dirty="0">
                <a:latin typeface="Trebuchet MS" panose="020B0703020202090204"/>
                <a:cs typeface="Trebuchet MS" panose="020B0703020202090204"/>
              </a:rPr>
              <a:t>Additional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Components: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Resistors,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power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supply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(battery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or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USB),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connectors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as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needed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circuit stability.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ts val="1910"/>
              </a:lnSpc>
            </a:pPr>
            <a:r>
              <a:rPr sz="1600" b="1" spc="-65" dirty="0">
                <a:latin typeface="Tahoma" panose="020B0604030504040204"/>
                <a:cs typeface="Tahoma" panose="020B0604030504040204"/>
              </a:rPr>
              <a:t>Software</a:t>
            </a:r>
            <a:r>
              <a:rPr sz="16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Requirements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 marR="87630" indent="-285750">
              <a:lnSpc>
                <a:spcPts val="1920"/>
              </a:lnSpc>
              <a:spcBef>
                <a:spcPts val="55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Programming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Environment: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MicroPython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or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C/C++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writing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uploading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firmware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 marR="458470" indent="-285750">
              <a:lnSpc>
                <a:spcPts val="1920"/>
              </a:lnSpc>
              <a:buFont typeface="Arial MT"/>
              <a:buChar char="•"/>
              <a:tabLst>
                <a:tab pos="29845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Development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Tools: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80" dirty="0">
                <a:latin typeface="Trebuchet MS" panose="020B0703020202090204"/>
                <a:cs typeface="Trebuchet MS" panose="020B0703020202090204"/>
              </a:rPr>
              <a:t>IDEs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such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as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Thonny,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90" dirty="0">
                <a:latin typeface="Trebuchet MS" panose="020B0703020202090204"/>
                <a:cs typeface="Trebuchet MS" panose="020B0703020202090204"/>
              </a:rPr>
              <a:t>VSCode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MicroPython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plugins,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or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60" dirty="0">
                <a:latin typeface="Trebuchet MS" panose="020B0703020202090204"/>
                <a:cs typeface="Trebuchet MS" panose="020B0703020202090204"/>
              </a:rPr>
              <a:t>IDE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40" dirty="0">
                <a:latin typeface="Trebuchet MS" panose="020B0703020202090204"/>
                <a:cs typeface="Trebuchet MS" panose="020B0703020202090204"/>
              </a:rPr>
              <a:t>(if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using C/C++).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ts val="1855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-10" dirty="0">
                <a:latin typeface="Trebuchet MS" panose="020B0703020202090204"/>
                <a:cs typeface="Trebuchet MS" panose="020B0703020202090204"/>
              </a:rPr>
              <a:t>Libraries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Drivers: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55" dirty="0">
                <a:latin typeface="Trebuchet MS" panose="020B0703020202090204"/>
                <a:cs typeface="Trebuchet MS" panose="020B0703020202090204"/>
              </a:rPr>
              <a:t>Sensor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library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MAX30103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75" dirty="0">
                <a:latin typeface="Trebuchet MS" panose="020B0703020202090204"/>
                <a:cs typeface="Trebuchet MS" panose="020B0703020202090204"/>
              </a:rPr>
              <a:t>facilitate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acquisition.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105" dirty="0">
                <a:latin typeface="Trebuchet MS" panose="020B0703020202090204"/>
                <a:cs typeface="Trebuchet MS" panose="020B0703020202090204"/>
              </a:rPr>
              <a:t>OLED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display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library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95" dirty="0">
                <a:latin typeface="Trebuchet MS" panose="020B0703020202090204"/>
                <a:cs typeface="Trebuchet MS" panose="020B0703020202090204"/>
              </a:rPr>
              <a:t>(e.g.,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114" dirty="0">
                <a:latin typeface="Trebuchet MS" panose="020B0703020202090204"/>
                <a:cs typeface="Trebuchet MS" panose="020B0703020202090204"/>
              </a:rPr>
              <a:t>SSD1306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5" dirty="0">
                <a:latin typeface="Trebuchet MS" panose="020B0703020202090204"/>
                <a:cs typeface="Trebuchet MS" panose="020B0703020202090204"/>
              </a:rPr>
              <a:t>library)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managing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display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interface.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Networking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libraries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handle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Wi-Fi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connectivity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transmission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protocols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(HTTP/MQTT).</a:t>
            </a:r>
            <a:endParaRPr sz="1600">
              <a:latin typeface="Trebuchet MS" panose="020B0703020202090204"/>
              <a:cs typeface="Trebuchet MS" panose="020B0703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832" y="1081416"/>
            <a:ext cx="6400800" cy="27956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 algn="l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 pitchFamily="2" charset="2"/>
              <a:buChar char="Ø"/>
            </a:pPr>
            <a:r>
              <a:rPr sz="1800" b="1" dirty="0">
                <a:latin typeface="Times New Roman" panose="02020503050405090304"/>
                <a:cs typeface="Times New Roman" panose="02020503050405090304"/>
              </a:rPr>
              <a:t>Circuit</a:t>
            </a:r>
            <a:r>
              <a:rPr sz="18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dirty="0">
                <a:latin typeface="Times New Roman" panose="02020503050405090304"/>
                <a:cs typeface="Times New Roman" panose="02020503050405090304"/>
              </a:rPr>
              <a:t>Diagram</a:t>
            </a:r>
            <a:r>
              <a:rPr sz="18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8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8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-10" dirty="0">
                <a:latin typeface="Times New Roman" panose="02020503050405090304"/>
                <a:cs typeface="Times New Roman" panose="02020503050405090304"/>
              </a:rPr>
              <a:t>explanation</a:t>
            </a:r>
            <a:r>
              <a:rPr lang="en-US" sz="1800" b="1" spc="-10" dirty="0">
                <a:latin typeface="Times New Roman" panose="02020503050405090304"/>
                <a:cs typeface="Times New Roman" panose="02020503050405090304"/>
              </a:rPr>
              <a:t>:</a:t>
            </a:r>
          </a:p>
          <a:p>
            <a:pPr marL="12700" algn="l">
              <a:lnSpc>
                <a:spcPct val="100000"/>
              </a:lnSpc>
              <a:spcBef>
                <a:spcPts val="100"/>
              </a:spcBef>
            </a:pPr>
            <a:endParaRPr lang="en-US" b="1" spc="-10" dirty="0">
              <a:latin typeface="Times New Roman" panose="02020503050405090304"/>
              <a:cs typeface="Times New Roman" panose="02020503050405090304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Connections: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MAX30100 VIN → Arduino 3.3V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MAX30100 GND → Arduino GND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VCC → Arduino 5V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GND → Arduino GND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I2C Communication (Shared Bus):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MAX30100 SDA → Arduino A4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MAX30100 SCL → Arduino A5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C32342-1C7F-A248-B37B-D78D1A6AC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587495"/>
            <a:ext cx="6172200" cy="32705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3267" y="1553235"/>
            <a:ext cx="6880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69265" algn="l"/>
              </a:tabLst>
            </a:pPr>
            <a:r>
              <a:rPr sz="2400" dirty="0">
                <a:latin typeface="Times New Roman" panose="02020503050405090304"/>
                <a:cs typeface="Times New Roman" panose="02020503050405090304"/>
              </a:rPr>
              <a:t>Project</a:t>
            </a:r>
            <a:r>
              <a:rPr sz="2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latin typeface="Times New Roman" panose="02020503050405090304"/>
                <a:cs typeface="Times New Roman" panose="02020503050405090304"/>
              </a:rPr>
              <a:t>Implementation</a:t>
            </a:r>
            <a:r>
              <a:rPr sz="2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24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latin typeface="Times New Roman" panose="02020503050405090304"/>
                <a:cs typeface="Times New Roman" panose="02020503050405090304"/>
              </a:rPr>
              <a:t>steps</a:t>
            </a:r>
            <a:r>
              <a:rPr sz="24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24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latin typeface="Times New Roman" panose="02020503050405090304"/>
                <a:cs typeface="Times New Roman" panose="02020503050405090304"/>
              </a:rPr>
              <a:t>flow</a:t>
            </a:r>
            <a:r>
              <a:rPr sz="24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spc="-10" dirty="0">
                <a:latin typeface="Times New Roman" panose="02020503050405090304"/>
                <a:cs typeface="Times New Roman" panose="02020503050405090304"/>
              </a:rPr>
              <a:t>diagram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08810" y="2294889"/>
            <a:ext cx="9526270" cy="422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5"/>
              </a:lnSpc>
              <a:spcBef>
                <a:spcPts val="95"/>
              </a:spcBef>
            </a:pPr>
            <a:r>
              <a:rPr sz="1600" b="1" spc="-70" dirty="0">
                <a:latin typeface="Tahoma" panose="020B0604030504040204"/>
                <a:cs typeface="Tahoma" panose="020B0604030504040204"/>
              </a:rPr>
              <a:t>Hardware</a:t>
            </a:r>
            <a:r>
              <a:rPr sz="16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Setup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ts val="1915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Connect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MAX30103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oximeter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sensor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jumper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wires.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-35" dirty="0">
                <a:latin typeface="Trebuchet MS" panose="020B0703020202090204"/>
                <a:cs typeface="Trebuchet MS" panose="020B0703020202090204"/>
              </a:rPr>
              <a:t>Integrate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105" dirty="0">
                <a:latin typeface="Trebuchet MS" panose="020B0703020202090204"/>
                <a:cs typeface="Trebuchet MS" panose="020B0703020202090204"/>
              </a:rPr>
              <a:t>OLED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display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visualize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SpO₂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rate.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Assemble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components</a:t>
            </a:r>
            <a:r>
              <a:rPr sz="1600" spc="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on</a:t>
            </a:r>
            <a:r>
              <a:rPr sz="1600" spc="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breadboard</a:t>
            </a:r>
            <a:r>
              <a:rPr sz="1600" spc="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prototyping.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ts val="1915"/>
              </a:lnSpc>
            </a:pPr>
            <a:r>
              <a:rPr sz="1600" b="1" spc="-65" dirty="0">
                <a:latin typeface="Tahoma" panose="020B0604030504040204"/>
                <a:cs typeface="Tahoma" panose="020B0604030504040204"/>
              </a:rPr>
              <a:t>Software</a:t>
            </a:r>
            <a:r>
              <a:rPr sz="16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Development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ts val="1915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Program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600" spc="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MicroPython</a:t>
            </a:r>
            <a:r>
              <a:rPr sz="1600" spc="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or</a:t>
            </a:r>
            <a:r>
              <a:rPr sz="1600" spc="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C/C++.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-25" dirty="0">
                <a:latin typeface="Trebuchet MS" panose="020B0703020202090204"/>
                <a:cs typeface="Trebuchet MS" panose="020B0703020202090204"/>
              </a:rPr>
              <a:t>Implement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libraries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MAX30103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sensor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 </a:t>
            </a:r>
            <a:r>
              <a:rPr sz="1600" spc="105" dirty="0">
                <a:latin typeface="Trebuchet MS" panose="020B0703020202090204"/>
                <a:cs typeface="Trebuchet MS" panose="020B0703020202090204"/>
              </a:rPr>
              <a:t>OLED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display.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55" dirty="0">
                <a:latin typeface="Trebuchet MS" panose="020B0703020202090204"/>
                <a:cs typeface="Trebuchet MS" panose="020B0703020202090204"/>
              </a:rPr>
              <a:t>Process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raw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sensor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calculate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SpO₂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rate.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ts val="1915"/>
              </a:lnSpc>
              <a:spcBef>
                <a:spcPts val="5"/>
              </a:spcBef>
            </a:pPr>
            <a:r>
              <a:rPr sz="1600" b="1" spc="-55" dirty="0">
                <a:latin typeface="Tahoma" panose="020B0604030504040204"/>
                <a:cs typeface="Tahoma" panose="020B0604030504040204"/>
              </a:rPr>
              <a:t>Data</a:t>
            </a:r>
            <a:r>
              <a:rPr sz="16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Transmission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ts val="1915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Enable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Wi-Fi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connectivity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on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-20" dirty="0">
                <a:latin typeface="Trebuchet MS" panose="020B0703020202090204"/>
                <a:cs typeface="Trebuchet MS" panose="020B0703020202090204"/>
              </a:rPr>
              <a:t>Transmit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remote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server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or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healthcare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platform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HTTP/MQTT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protocols.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ts val="1915"/>
              </a:lnSpc>
            </a:pPr>
            <a:r>
              <a:rPr sz="1600" b="1" spc="-55" dirty="0">
                <a:latin typeface="Tahoma" panose="020B0604030504040204"/>
                <a:cs typeface="Tahoma" panose="020B0604030504040204"/>
              </a:rPr>
              <a:t>Website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Integration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ts val="1915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Develop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web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interface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receive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display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SpO₂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rate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data.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-25" dirty="0">
                <a:latin typeface="Trebuchet MS" panose="020B0703020202090204"/>
                <a:cs typeface="Trebuchet MS" panose="020B0703020202090204"/>
              </a:rPr>
              <a:t>Implement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database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storage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long-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term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monitoring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analysis.</a:t>
            </a:r>
            <a:endParaRPr sz="1600" dirty="0">
              <a:latin typeface="Trebuchet MS" panose="020B0703020202090204"/>
              <a:cs typeface="Trebuchet MS" panose="020B0703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68415D-D549-C14E-8F30-1D0F20EB4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209800"/>
            <a:ext cx="7467600" cy="4191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3E13F5-DCCE-9E4E-945B-450A241D832C}"/>
              </a:ext>
            </a:extLst>
          </p:cNvPr>
          <p:cNvSpPr txBox="1"/>
          <p:nvPr/>
        </p:nvSpPr>
        <p:spPr>
          <a:xfrm>
            <a:off x="1905000" y="1154668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B7350C6F-2605-9D4F-89DC-9E656FAD23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85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3267" y="1425600"/>
            <a:ext cx="8980170" cy="4610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69265" algn="l"/>
              </a:tabLst>
            </a:pPr>
            <a:r>
              <a:rPr sz="2400" dirty="0">
                <a:latin typeface="Times New Roman" panose="02020503050405090304"/>
                <a:cs typeface="Times New Roman" panose="02020503050405090304"/>
              </a:rPr>
              <a:t>Results</a:t>
            </a:r>
            <a:r>
              <a:rPr sz="24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24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spc="-10" dirty="0">
                <a:latin typeface="Times New Roman" panose="02020503050405090304"/>
                <a:cs typeface="Times New Roman" panose="02020503050405090304"/>
              </a:rPr>
              <a:t>Discussion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 marL="146050">
              <a:lnSpc>
                <a:spcPts val="1915"/>
              </a:lnSpc>
              <a:spcBef>
                <a:spcPts val="2200"/>
              </a:spcBef>
            </a:pPr>
            <a:r>
              <a:rPr sz="1600" b="1" spc="-10" dirty="0">
                <a:latin typeface="Tahoma" panose="020B0604030504040204"/>
                <a:cs typeface="Tahoma" panose="020B0604030504040204"/>
              </a:rPr>
              <a:t>Results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431800" indent="-285750">
              <a:lnSpc>
                <a:spcPts val="1915"/>
              </a:lnSpc>
              <a:buFont typeface="Arial MT"/>
              <a:buChar char="•"/>
              <a:tabLst>
                <a:tab pos="4318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Monitoring: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889000" lvl="1" indent="-285750">
              <a:lnSpc>
                <a:spcPct val="100000"/>
              </a:lnSpc>
              <a:buFont typeface="Arial MT"/>
              <a:buChar char="•"/>
              <a:tabLst>
                <a:tab pos="8890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successfully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measures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SpO₂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rate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MAX30103</a:t>
            </a:r>
            <a:r>
              <a:rPr sz="1600" spc="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sensor.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889000" lvl="1" indent="-285750">
              <a:lnSpc>
                <a:spcPct val="100000"/>
              </a:lnSpc>
              <a:buFont typeface="Arial MT"/>
              <a:buChar char="•"/>
              <a:tabLst>
                <a:tab pos="8890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Readings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are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displayed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on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105" dirty="0">
                <a:latin typeface="Trebuchet MS" panose="020B0703020202090204"/>
                <a:cs typeface="Trebuchet MS" panose="020B0703020202090204"/>
              </a:rPr>
              <a:t>OLED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screen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minimal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delay.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431800" indent="-285750">
              <a:lnSpc>
                <a:spcPct val="100000"/>
              </a:lnSpc>
              <a:buFont typeface="Arial MT"/>
              <a:buChar char="•"/>
              <a:tabLst>
                <a:tab pos="4318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Wireless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Transmission: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889000" lvl="1" indent="-285750">
              <a:lnSpc>
                <a:spcPct val="100000"/>
              </a:lnSpc>
              <a:buFont typeface="Arial MT"/>
              <a:buChar char="•"/>
              <a:tabLst>
                <a:tab pos="8890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transmits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sensor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web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platform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via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Wi-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Fi.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889000" lvl="1" indent="-285750">
              <a:lnSpc>
                <a:spcPct val="100000"/>
              </a:lnSpc>
              <a:buFont typeface="Arial MT"/>
              <a:buChar char="•"/>
              <a:tabLst>
                <a:tab pos="8890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is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stored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database,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allowing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remote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monitoring.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431800" indent="-285750">
              <a:lnSpc>
                <a:spcPct val="100000"/>
              </a:lnSpc>
              <a:buFont typeface="Arial MT"/>
              <a:buChar char="•"/>
              <a:tabLst>
                <a:tab pos="4318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Accuracy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30" dirty="0">
                <a:latin typeface="Trebuchet MS" panose="020B0703020202090204"/>
                <a:cs typeface="Trebuchet MS" panose="020B0703020202090204"/>
              </a:rPr>
              <a:t>&amp;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Performance: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889000" lvl="1" indent="-285750">
              <a:lnSpc>
                <a:spcPct val="100000"/>
              </a:lnSpc>
              <a:buFont typeface="Arial MT"/>
              <a:buChar char="•"/>
              <a:tabLst>
                <a:tab pos="8890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 readings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were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compared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a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commercial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oximeter,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showing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260" dirty="0">
                <a:latin typeface="Trebuchet MS" panose="020B0703020202090204"/>
                <a:cs typeface="Trebuchet MS" panose="020B0703020202090204"/>
              </a:rPr>
              <a:t>±2%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accuracy.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889000" lvl="1" indent="-285750">
              <a:lnSpc>
                <a:spcPct val="100000"/>
              </a:lnSpc>
              <a:buFont typeface="Arial MT"/>
              <a:buChar char="•"/>
              <a:tabLst>
                <a:tab pos="8890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responds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5" dirty="0">
                <a:latin typeface="Trebuchet MS" panose="020B0703020202090204"/>
                <a:cs typeface="Trebuchet MS" panose="020B0703020202090204"/>
              </a:rPr>
              <a:t>efficiently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low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latency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transmission.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lvl="1"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46050">
              <a:lnSpc>
                <a:spcPts val="1915"/>
              </a:lnSpc>
            </a:pPr>
            <a:r>
              <a:rPr sz="1600" b="1" spc="-10" dirty="0">
                <a:latin typeface="Tahoma" panose="020B0604030504040204"/>
                <a:cs typeface="Tahoma" panose="020B0604030504040204"/>
              </a:rPr>
              <a:t>Discussion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431800" indent="-285750">
              <a:lnSpc>
                <a:spcPts val="1915"/>
              </a:lnSpc>
              <a:buFont typeface="Arial MT"/>
              <a:buChar char="•"/>
              <a:tabLst>
                <a:tab pos="4318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device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is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cost-</a:t>
            </a:r>
            <a:r>
              <a:rPr sz="1600" spc="-65" dirty="0">
                <a:latin typeface="Trebuchet MS" panose="020B0703020202090204"/>
                <a:cs typeface="Trebuchet MS" panose="020B0703020202090204"/>
              </a:rPr>
              <a:t>effective,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portable,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suitable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remote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healthcare.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431800" indent="-285750">
              <a:lnSpc>
                <a:spcPct val="100000"/>
              </a:lnSpc>
              <a:buFont typeface="Arial MT"/>
              <a:buChar char="•"/>
              <a:tabLst>
                <a:tab pos="431800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Motion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artifacts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cause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slight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variations,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which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can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be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minimized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75" dirty="0">
                <a:latin typeface="Trebuchet MS" panose="020B0703020202090204"/>
                <a:cs typeface="Trebuchet MS" panose="020B0703020202090204"/>
              </a:rPr>
              <a:t>filtering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techniques.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431800" marR="787400" indent="-285750">
              <a:lnSpc>
                <a:spcPct val="100000"/>
              </a:lnSpc>
              <a:buFont typeface="Arial MT"/>
              <a:buChar char="•"/>
              <a:tabLst>
                <a:tab pos="431800" algn="l"/>
              </a:tabLst>
            </a:pPr>
            <a:r>
              <a:rPr sz="1600" spc="-20" dirty="0">
                <a:latin typeface="Trebuchet MS" panose="020B0703020202090204"/>
                <a:cs typeface="Trebuchet MS" panose="020B0703020202090204"/>
              </a:rPr>
              <a:t>Future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enhancements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could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focus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on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battery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efficiency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cloud-based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analytics</a:t>
            </a:r>
            <a:r>
              <a:rPr sz="1600" spc="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for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predictive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monitoring.</a:t>
            </a:r>
            <a:endParaRPr sz="1600">
              <a:latin typeface="Trebuchet MS" panose="020B0703020202090204"/>
              <a:cs typeface="Trebuchet MS" panose="020B070302020209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2EF08C-4AEF-C84B-8353-4E2869BC4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057400"/>
            <a:ext cx="6330909" cy="337500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ADE215F2-FBBD-BA47-A99F-E80D738C91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E888F4-5EDF-7B45-9084-71F27F0468FE}"/>
              </a:ext>
            </a:extLst>
          </p:cNvPr>
          <p:cNvSpPr txBox="1"/>
          <p:nvPr/>
        </p:nvSpPr>
        <p:spPr>
          <a:xfrm>
            <a:off x="2057400" y="20409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</p:txBody>
      </p:sp>
    </p:spTree>
    <p:extLst>
      <p:ext uri="{BB962C8B-B14F-4D97-AF65-F5344CB8AC3E}">
        <p14:creationId xmlns:p14="http://schemas.microsoft.com/office/powerpoint/2010/main" val="1232430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3267" y="1553235"/>
            <a:ext cx="1870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69265" algn="l"/>
              </a:tabLst>
            </a:pPr>
            <a:r>
              <a:rPr sz="2400" spc="-10" dirty="0">
                <a:latin typeface="Times New Roman" panose="02020503050405090304"/>
                <a:cs typeface="Times New Roman" panose="02020503050405090304"/>
              </a:rPr>
              <a:t>Conclusion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82445" y="2222500"/>
            <a:ext cx="10015855" cy="322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This</a:t>
            </a:r>
            <a:r>
              <a:rPr sz="1600" spc="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project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successfully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develops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low-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cost,</a:t>
            </a:r>
            <a:r>
              <a:rPr sz="1600" spc="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portable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Oximeter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using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Arduino Uno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MAX30103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sensor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measure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SpO₂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80" dirty="0">
                <a:latin typeface="Trebuchet MS" panose="020B0703020202090204"/>
                <a:cs typeface="Trebuchet MS" panose="020B0703020202090204"/>
              </a:rPr>
              <a:t>rate.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effectively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displays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readings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on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105" dirty="0">
                <a:latin typeface="Trebuchet MS" panose="020B0703020202090204"/>
                <a:cs typeface="Trebuchet MS" panose="020B0703020202090204"/>
              </a:rPr>
              <a:t>OLED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screen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transmits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wirelessly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web-based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healthcare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platform.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integration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of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Wi-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Fi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connectivity,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enables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remote monitoring,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making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30" dirty="0">
                <a:latin typeface="Trebuchet MS" panose="020B0703020202090204"/>
                <a:cs typeface="Trebuchet MS" panose="020B0703020202090204"/>
              </a:rPr>
              <a:t>it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valuable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tool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healthcare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applications.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 marR="118110">
              <a:lnSpc>
                <a:spcPct val="100000"/>
              </a:lnSpc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accuracy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of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measurements,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260" dirty="0">
                <a:latin typeface="Trebuchet MS" panose="020B0703020202090204"/>
                <a:cs typeface="Trebuchet MS" panose="020B0703020202090204"/>
              </a:rPr>
              <a:t>±2%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deviation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compared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commercial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oximeters,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ensures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reliable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results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home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healthcare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telemedicine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applications.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Although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minor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motion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artifacts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were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observed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during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testing,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improvements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signal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processing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75" dirty="0">
                <a:latin typeface="Trebuchet MS" panose="020B0703020202090204"/>
                <a:cs typeface="Trebuchet MS" panose="020B0703020202090204"/>
              </a:rPr>
              <a:t>filtering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can</a:t>
            </a:r>
            <a:r>
              <a:rPr sz="1600" spc="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enhance</a:t>
            </a:r>
            <a:r>
              <a:rPr sz="1600" spc="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accuracy.</a:t>
            </a:r>
            <a:r>
              <a:rPr sz="1600" spc="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Additionally,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power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optimization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can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explored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improve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portability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energy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efficiency.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 marR="530225" algn="just">
              <a:lnSpc>
                <a:spcPct val="100000"/>
              </a:lnSpc>
              <a:spcBef>
                <a:spcPts val="5"/>
              </a:spcBef>
            </a:pPr>
            <a:r>
              <a:rPr sz="1600" spc="-45" dirty="0">
                <a:latin typeface="Trebuchet MS" panose="020B0703020202090204"/>
                <a:cs typeface="Trebuchet MS" panose="020B0703020202090204"/>
              </a:rPr>
              <a:t>Overall,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this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project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demonstrates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scalable,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80" dirty="0">
                <a:latin typeface="Trebuchet MS" panose="020B0703020202090204"/>
                <a:cs typeface="Trebuchet MS" panose="020B0703020202090204"/>
              </a:rPr>
              <a:t>efficient,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accessible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monitoring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solution.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Future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improvements,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55" dirty="0">
                <a:latin typeface="Trebuchet MS" panose="020B0703020202090204"/>
                <a:cs typeface="Trebuchet MS" panose="020B0703020202090204"/>
              </a:rPr>
              <a:t>such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as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cloud-based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analytics,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AI-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driven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insights,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and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mobile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app</a:t>
            </a:r>
            <a:r>
              <a:rPr sz="1600" spc="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integration,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can </a:t>
            </a:r>
            <a:r>
              <a:rPr sz="1600" spc="-70" dirty="0">
                <a:latin typeface="Trebuchet MS" panose="020B0703020202090204"/>
                <a:cs typeface="Trebuchet MS" panose="020B0703020202090204"/>
              </a:rPr>
              <a:t>further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enhance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the </a:t>
            </a:r>
            <a:r>
              <a:rPr sz="1600" spc="60" dirty="0">
                <a:latin typeface="Trebuchet MS" panose="020B0703020202090204"/>
                <a:cs typeface="Trebuchet MS" panose="020B0703020202090204"/>
              </a:rPr>
              <a:t>system's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usability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impact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the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medical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field.</a:t>
            </a:r>
            <a:endParaRPr sz="1600">
              <a:latin typeface="Trebuchet MS" panose="020B0703020202090204"/>
              <a:cs typeface="Trebuchet MS" panose="020B0703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3267" y="1273200"/>
            <a:ext cx="2099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Future</a:t>
            </a:r>
            <a:r>
              <a:rPr sz="2400" spc="-35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spc="-2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Scope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82445" y="1969135"/>
            <a:ext cx="9643110" cy="4441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sz="1600" b="1" spc="-30" dirty="0">
                <a:latin typeface="Tahoma" panose="020B0604030504040204"/>
                <a:cs typeface="Tahoma" panose="020B0604030504040204"/>
              </a:rPr>
              <a:t>Enhanced</a:t>
            </a:r>
            <a:r>
              <a:rPr sz="1600" b="1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Accuracy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70" dirty="0">
                <a:latin typeface="Tahoma" panose="020B0604030504040204"/>
                <a:cs typeface="Tahoma" panose="020B0604030504040204"/>
              </a:rPr>
              <a:t>&amp;</a:t>
            </a:r>
            <a:r>
              <a:rPr sz="1600" b="1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Signal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Processing</a:t>
            </a:r>
            <a:r>
              <a:rPr sz="1600" b="1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 b="1">
              <a:latin typeface="Trebuchet MS" panose="020B0703020202090204"/>
              <a:cs typeface="Trebuchet MS" panose="020B0703020202090204"/>
            </a:endParaRPr>
          </a:p>
          <a:p>
            <a:pPr marL="298450" marR="43815" indent="-285750">
              <a:lnSpc>
                <a:spcPts val="1920"/>
              </a:lnSpc>
              <a:spcBef>
                <a:spcPts val="55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spc="-25" dirty="0">
                <a:latin typeface="Trebuchet MS" panose="020B0703020202090204"/>
                <a:cs typeface="Trebuchet MS" panose="020B0703020202090204"/>
              </a:rPr>
              <a:t>Implement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advanced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75" dirty="0">
                <a:latin typeface="Trebuchet MS" panose="020B0703020202090204"/>
                <a:cs typeface="Trebuchet MS" panose="020B0703020202090204"/>
              </a:rPr>
              <a:t>filtering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algorithms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minimize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motion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artifacts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improve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SpO₂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pulse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rate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accuracy.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 marR="5080" indent="-285750">
              <a:lnSpc>
                <a:spcPts val="1920"/>
              </a:lnSpc>
              <a:buFont typeface="Arial MT"/>
              <a:buChar char="•"/>
              <a:tabLst>
                <a:tab pos="298450" algn="l"/>
              </a:tabLst>
            </a:pPr>
            <a:r>
              <a:rPr sz="1600" spc="70" dirty="0">
                <a:latin typeface="Trebuchet MS" panose="020B0703020202090204"/>
                <a:cs typeface="Trebuchet MS" panose="020B0703020202090204"/>
              </a:rPr>
              <a:t>Use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machine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learning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models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detect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irregular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heart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patterns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provide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early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warnings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potential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-8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risks.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ts val="1865"/>
              </a:lnSpc>
            </a:pPr>
            <a:r>
              <a:rPr sz="1600" b="1" dirty="0">
                <a:latin typeface="Tahoma" panose="020B0604030504040204"/>
                <a:cs typeface="Tahoma" panose="020B0604030504040204"/>
              </a:rPr>
              <a:t>Cloud</a:t>
            </a:r>
            <a:r>
              <a:rPr sz="1600" b="1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70" dirty="0">
                <a:latin typeface="Tahoma" panose="020B0604030504040204"/>
                <a:cs typeface="Tahoma" panose="020B0604030504040204"/>
              </a:rPr>
              <a:t>&amp;</a:t>
            </a:r>
            <a:r>
              <a:rPr sz="1600" b="1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30" dirty="0">
                <a:latin typeface="Tahoma" panose="020B0604030504040204"/>
                <a:cs typeface="Tahoma" panose="020B0604030504040204"/>
              </a:rPr>
              <a:t>Mobile</a:t>
            </a:r>
            <a:r>
              <a:rPr sz="1600" b="1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App</a:t>
            </a:r>
            <a:r>
              <a:rPr sz="1600" b="1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Integration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ts val="191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Develop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mobile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application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monitoring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historical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analysis.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8450" marR="159385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600" spc="-35" dirty="0">
                <a:latin typeface="Trebuchet MS" panose="020B0703020202090204"/>
                <a:cs typeface="Trebuchet MS" panose="020B0703020202090204"/>
              </a:rPr>
              <a:t>Integrate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cloud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platforms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store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patient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data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securely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allow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remote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65" dirty="0">
                <a:latin typeface="Trebuchet MS" panose="020B0703020202090204"/>
                <a:cs typeface="Trebuchet MS" panose="020B0703020202090204"/>
              </a:rPr>
              <a:t>access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doctors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and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caregivers.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ts val="1915"/>
              </a:lnSpc>
              <a:spcBef>
                <a:spcPts val="15"/>
              </a:spcBef>
            </a:pPr>
            <a:r>
              <a:rPr sz="1600" b="1" spc="-70" dirty="0">
                <a:latin typeface="Tahoma" panose="020B0604030504040204"/>
                <a:cs typeface="Tahoma" panose="020B0604030504040204"/>
              </a:rPr>
              <a:t>Battery</a:t>
            </a:r>
            <a:r>
              <a:rPr sz="1600" b="1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60" dirty="0">
                <a:latin typeface="Tahoma" panose="020B0604030504040204"/>
                <a:cs typeface="Tahoma" panose="020B0604030504040204"/>
              </a:rPr>
              <a:t>Optimization</a:t>
            </a:r>
            <a:r>
              <a:rPr sz="1600" b="1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70" dirty="0">
                <a:latin typeface="Tahoma" panose="020B0604030504040204"/>
                <a:cs typeface="Tahoma" panose="020B0604030504040204"/>
              </a:rPr>
              <a:t>&amp;</a:t>
            </a:r>
            <a:r>
              <a:rPr sz="1600" b="1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Portability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ts val="1915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Improve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power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efficiency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support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long-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term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with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rechargeable</a:t>
            </a:r>
            <a:r>
              <a:rPr sz="1600" spc="-2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batteries.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Design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compact,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wearable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version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continuous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tracking.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ts val="1915"/>
              </a:lnSpc>
              <a:spcBef>
                <a:spcPts val="15"/>
              </a:spcBef>
            </a:pPr>
            <a:r>
              <a:rPr sz="1600" b="1" spc="-130" dirty="0">
                <a:latin typeface="Tahoma" panose="020B0604030504040204"/>
                <a:cs typeface="Tahoma" panose="020B0604030504040204"/>
              </a:rPr>
              <a:t>AI-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Based</a:t>
            </a:r>
            <a:r>
              <a:rPr sz="1600" b="1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45" dirty="0">
                <a:latin typeface="Tahoma" panose="020B0604030504040204"/>
                <a:cs typeface="Tahoma" panose="020B0604030504040204"/>
              </a:rPr>
              <a:t>Predictive</a:t>
            </a:r>
            <a:r>
              <a:rPr sz="1600" b="1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Healthcare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ts val="1915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70" dirty="0">
                <a:latin typeface="Trebuchet MS" panose="020B0703020202090204"/>
                <a:cs typeface="Trebuchet MS" panose="020B0703020202090204"/>
              </a:rPr>
              <a:t>Use</a:t>
            </a:r>
            <a:r>
              <a:rPr sz="1600" spc="-7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AI-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driven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analytics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detect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abnormal</a:t>
            </a:r>
            <a:r>
              <a:rPr sz="1600" spc="-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75" dirty="0">
                <a:latin typeface="Trebuchet MS" panose="020B0703020202090204"/>
                <a:cs typeface="Trebuchet MS" panose="020B0703020202090204"/>
              </a:rPr>
              <a:t>SpO₂</a:t>
            </a:r>
            <a:r>
              <a:rPr sz="1600" spc="-6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trends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provide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health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recommendations.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Trebuchet MS" panose="020B0703020202090204"/>
                <a:cs typeface="Trebuchet MS" panose="020B0703020202090204"/>
              </a:rPr>
              <a:t>Enable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real-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time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alerts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to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notify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users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or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healthcare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providers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of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55" dirty="0">
                <a:latin typeface="Trebuchet MS" panose="020B0703020202090204"/>
                <a:cs typeface="Trebuchet MS" panose="020B0703020202090204"/>
              </a:rPr>
              <a:t>critical</a:t>
            </a:r>
            <a:r>
              <a:rPr sz="1600" spc="-5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conditions.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12700">
              <a:lnSpc>
                <a:spcPts val="1910"/>
              </a:lnSpc>
              <a:spcBef>
                <a:spcPts val="15"/>
              </a:spcBef>
            </a:pPr>
            <a:r>
              <a:rPr sz="1600" b="1" spc="-40" dirty="0">
                <a:latin typeface="Tahoma" panose="020B0604030504040204"/>
                <a:cs typeface="Tahoma" panose="020B0604030504040204"/>
              </a:rPr>
              <a:t>Expanded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 Healthcare</a:t>
            </a:r>
            <a:r>
              <a:rPr sz="1600" b="1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Applications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: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ts val="191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-35" dirty="0">
                <a:latin typeface="Trebuchet MS" panose="020B0703020202090204"/>
                <a:cs typeface="Trebuchet MS" panose="020B0703020202090204"/>
              </a:rPr>
              <a:t>Integrate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additional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biosensors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tracking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other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vitals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60" dirty="0">
                <a:latin typeface="Trebuchet MS" panose="020B0703020202090204"/>
                <a:cs typeface="Trebuchet MS" panose="020B0703020202090204"/>
              </a:rPr>
              <a:t>like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temperature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blood</a:t>
            </a:r>
            <a:r>
              <a:rPr sz="1600" spc="-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pressure.</a:t>
            </a:r>
            <a:endParaRPr sz="1600">
              <a:latin typeface="Trebuchet MS" panose="020B0703020202090204"/>
              <a:cs typeface="Trebuchet MS" panose="020B0703020202090204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70" dirty="0">
                <a:latin typeface="Trebuchet MS" panose="020B0703020202090204"/>
                <a:cs typeface="Trebuchet MS" panose="020B0703020202090204"/>
              </a:rPr>
              <a:t>Use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0" dirty="0">
                <a:latin typeface="Trebuchet MS" panose="020B0703020202090204"/>
                <a:cs typeface="Trebuchet MS" panose="020B0703020202090204"/>
              </a:rPr>
              <a:t>the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system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in </a:t>
            </a:r>
            <a:r>
              <a:rPr sz="1600" spc="-35" dirty="0">
                <a:latin typeface="Trebuchet MS" panose="020B0703020202090204"/>
                <a:cs typeface="Trebuchet MS" panose="020B0703020202090204"/>
              </a:rPr>
              <a:t>telemedicine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and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30" dirty="0">
                <a:latin typeface="Trebuchet MS" panose="020B0703020202090204"/>
                <a:cs typeface="Trebuchet MS" panose="020B0703020202090204"/>
              </a:rPr>
              <a:t>remote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patient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monitoring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45" dirty="0">
                <a:latin typeface="Trebuchet MS" panose="020B0703020202090204"/>
                <a:cs typeface="Trebuchet MS" panose="020B0703020202090204"/>
              </a:rPr>
              <a:t>for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managing</a:t>
            </a:r>
            <a:r>
              <a:rPr sz="1600" spc="-20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dirty="0">
                <a:latin typeface="Trebuchet MS" panose="020B0703020202090204"/>
                <a:cs typeface="Trebuchet MS" panose="020B0703020202090204"/>
              </a:rPr>
              <a:t>chronic</a:t>
            </a:r>
            <a:r>
              <a:rPr sz="1600" spc="-15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600" spc="-10" dirty="0">
                <a:latin typeface="Trebuchet MS" panose="020B0703020202090204"/>
                <a:cs typeface="Trebuchet MS" panose="020B0703020202090204"/>
              </a:rPr>
              <a:t>diseases.</a:t>
            </a:r>
            <a:endParaRPr sz="1600">
              <a:latin typeface="Trebuchet MS" panose="020B0703020202090204"/>
              <a:cs typeface="Trebuchet MS" panose="020B070302020209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2445" y="1553235"/>
            <a:ext cx="2170430" cy="4177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007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600075" algn="l"/>
              </a:tabLst>
            </a:pPr>
            <a:r>
              <a:rPr sz="2400" spc="-1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Applications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 marL="264795" indent="-252095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264795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Healthcare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64795" indent="-252095">
              <a:lnSpc>
                <a:spcPct val="100000"/>
              </a:lnSpc>
              <a:buAutoNum type="arabicPeriod"/>
              <a:tabLst>
                <a:tab pos="264795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Telemedicine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64795" indent="-252095">
              <a:lnSpc>
                <a:spcPct val="100000"/>
              </a:lnSpc>
              <a:buAutoNum type="arabicPeriod"/>
              <a:tabLst>
                <a:tab pos="264795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Homecare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64795" indent="-252095">
              <a:lnSpc>
                <a:spcPct val="100000"/>
              </a:lnSpc>
              <a:buAutoNum type="arabicPeriod"/>
              <a:tabLst>
                <a:tab pos="264795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Fitness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64795" indent="-252095">
              <a:lnSpc>
                <a:spcPct val="100000"/>
              </a:lnSpc>
              <a:buAutoNum type="arabicPeriod"/>
              <a:tabLst>
                <a:tab pos="264795" algn="l"/>
              </a:tabLst>
            </a:pPr>
            <a:r>
              <a:rPr sz="1800" dirty="0">
                <a:latin typeface="Trebuchet MS" panose="020B0703020202090204"/>
                <a:cs typeface="Trebuchet MS" panose="020B0703020202090204"/>
              </a:rPr>
              <a:t>Sleep</a:t>
            </a:r>
            <a:r>
              <a:rPr sz="1800" spc="114" dirty="0">
                <a:latin typeface="Trebuchet MS" panose="020B0703020202090204"/>
                <a:cs typeface="Trebuchet MS" panose="020B0703020202090204"/>
              </a:rPr>
              <a:t> 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Monitoring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64795" indent="-252095">
              <a:lnSpc>
                <a:spcPct val="100000"/>
              </a:lnSpc>
              <a:buAutoNum type="arabicPeriod"/>
              <a:tabLst>
                <a:tab pos="264795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Emergency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64795" indent="-252095">
              <a:lnSpc>
                <a:spcPct val="100000"/>
              </a:lnSpc>
              <a:buAutoNum type="arabicPeriod"/>
              <a:tabLst>
                <a:tab pos="264795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Research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64795" indent="-252095">
              <a:lnSpc>
                <a:spcPct val="100000"/>
              </a:lnSpc>
              <a:buAutoNum type="arabicPeriod"/>
              <a:tabLst>
                <a:tab pos="264795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Aerospace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264795" indent="-252095">
              <a:lnSpc>
                <a:spcPct val="100000"/>
              </a:lnSpc>
              <a:buAutoNum type="arabicPeriod"/>
              <a:tabLst>
                <a:tab pos="264795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Military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391160" indent="-378460">
              <a:lnSpc>
                <a:spcPct val="100000"/>
              </a:lnSpc>
              <a:buAutoNum type="arabicPeriod"/>
              <a:tabLst>
                <a:tab pos="391160" algn="l"/>
              </a:tabLst>
            </a:pPr>
            <a:r>
              <a:rPr sz="1800" dirty="0">
                <a:latin typeface="Trebuchet MS" panose="020B0703020202090204"/>
                <a:cs typeface="Trebuchet MS" panose="020B0703020202090204"/>
              </a:rPr>
              <a:t>High-</a:t>
            </a:r>
            <a:r>
              <a:rPr sz="1800" spc="-10" dirty="0">
                <a:latin typeface="Trebuchet MS" panose="020B0703020202090204"/>
                <a:cs typeface="Trebuchet MS" panose="020B0703020202090204"/>
              </a:rPr>
              <a:t>altitude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391160" indent="-378460">
              <a:lnSpc>
                <a:spcPct val="100000"/>
              </a:lnSpc>
              <a:buAutoNum type="arabicPeriod"/>
              <a:tabLst>
                <a:tab pos="391160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Preventive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391160" indent="-378460">
              <a:lnSpc>
                <a:spcPct val="100000"/>
              </a:lnSpc>
              <a:buAutoNum type="arabicPeriod"/>
              <a:tabLst>
                <a:tab pos="391160" algn="l"/>
              </a:tabLst>
            </a:pPr>
            <a:r>
              <a:rPr sz="1800" spc="-10" dirty="0">
                <a:latin typeface="Trebuchet MS" panose="020B0703020202090204"/>
                <a:cs typeface="Trebuchet MS" panose="020B0703020202090204"/>
              </a:rPr>
              <a:t>Education</a:t>
            </a:r>
            <a:endParaRPr sz="1800">
              <a:latin typeface="Trebuchet MS" panose="020B0703020202090204"/>
              <a:cs typeface="Trebuchet MS" panose="020B0703020202090204"/>
            </a:endParaRPr>
          </a:p>
          <a:p>
            <a:pPr marL="391160" indent="-378460">
              <a:lnSpc>
                <a:spcPct val="100000"/>
              </a:lnSpc>
              <a:buAutoNum type="arabicPeriod"/>
              <a:tabLst>
                <a:tab pos="391160" algn="l"/>
              </a:tabLst>
            </a:pPr>
            <a:r>
              <a:rPr sz="1800" spc="45" dirty="0">
                <a:latin typeface="Trebuchet MS" panose="020B0703020202090204"/>
                <a:cs typeface="Trebuchet MS" panose="020B0703020202090204"/>
              </a:rPr>
              <a:t>Sports</a:t>
            </a:r>
            <a:endParaRPr sz="1800">
              <a:latin typeface="Trebuchet MS" panose="020B0703020202090204"/>
              <a:cs typeface="Trebuchet MS" panose="020B070302020209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5157" y="1553235"/>
            <a:ext cx="2835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75000"/>
              <a:buFont typeface="Wingdings" panose="05000000000000000000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2400" spc="-35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2400" spc="-25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spc="-20" dirty="0">
                <a:solidFill>
                  <a:srgbClr val="052257"/>
                </a:solidFill>
                <a:latin typeface="Times New Roman" panose="02020503050405090304"/>
                <a:cs typeface="Times New Roman" panose="02020503050405090304"/>
              </a:rPr>
              <a:t>idea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832" y="2174748"/>
            <a:ext cx="9369552" cy="43540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90" dirty="0"/>
              <a:t>Thank</a:t>
            </a:r>
            <a:r>
              <a:rPr spc="-50" dirty="0"/>
              <a:t> </a:t>
            </a:r>
            <a:r>
              <a:rPr spc="-459" dirty="0"/>
              <a:t>You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158495"/>
            <a:ext cx="2864136" cy="9229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1798</Words>
  <Application>Microsoft Macintosh PowerPoint</Application>
  <PresentationFormat>Widescreen</PresentationFormat>
  <Paragraphs>193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 Black</vt:lpstr>
      <vt:lpstr>Arial MT</vt:lpstr>
      <vt:lpstr>Calibri</vt:lpstr>
      <vt:lpstr>Tahoma</vt:lpstr>
      <vt:lpstr>Times New Roman</vt:lpstr>
      <vt:lpstr>Trebuchet MS</vt:lpstr>
      <vt:lpstr>Wingdings</vt:lpstr>
      <vt:lpstr>Office Theme</vt:lpstr>
      <vt:lpstr>Department of Electronics and Telecommunication Engineering</vt:lpstr>
      <vt:lpstr>Outline of Major A End Semester Examination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Electronics and Telecommunication Engineering</dc:title>
  <dc:creator/>
  <cp:lastModifiedBy>Dhananjay Shinde</cp:lastModifiedBy>
  <cp:revision>10</cp:revision>
  <dcterms:created xsi:type="dcterms:W3CDTF">2025-05-05T10:03:24Z</dcterms:created>
  <dcterms:modified xsi:type="dcterms:W3CDTF">2025-05-05T18:59:53Z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2025-04-02T05:30:00Z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2025-05-05T05:30:00Z</vt:filetime>
  </property>
  <property fmtid="{D5CDD505-2E9C-101B-9397-08002B2CF9AE}" pid="5" name="Producer">
    <vt:lpwstr>macOS Version 12.7.6 (Build 21H1320) Quartz PDFContext</vt:lpwstr>
  </property>
  <property fmtid="{D5CDD505-2E9C-101B-9397-08002B2CF9AE}" pid="6" name="SourceModified">
    <vt:lpwstr>D:20250402120103+00'00'</vt:lpwstr>
  </property>
  <property fmtid="{D5CDD505-2E9C-101B-9397-08002B2CF9AE}" pid="7" name="ICV">
    <vt:lpwstr>0415AD4C92869839EC8C1868268606D1_43</vt:lpwstr>
  </property>
  <property fmtid="{D5CDD505-2E9C-101B-9397-08002B2CF9AE}" pid="8" name="KSOProductBuildVer">
    <vt:lpwstr>1033-6.13.1.8710</vt:lpwstr>
  </property>
</Properties>
</file>